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3"/>
  </p:notesMasterIdLst>
  <p:sldIdLst>
    <p:sldId id="256" r:id="rId2"/>
    <p:sldId id="714" r:id="rId3"/>
    <p:sldId id="674" r:id="rId4"/>
    <p:sldId id="713" r:id="rId5"/>
    <p:sldId id="715" r:id="rId6"/>
    <p:sldId id="716" r:id="rId7"/>
    <p:sldId id="717" r:id="rId8"/>
    <p:sldId id="712" r:id="rId9"/>
    <p:sldId id="676" r:id="rId10"/>
    <p:sldId id="711" r:id="rId11"/>
    <p:sldId id="3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86" d="100"/>
          <a:sy n="86" d="100"/>
        </p:scale>
        <p:origin x="360"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28-12-2025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949003"/>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Insurance Customer Response Prediction</a:t>
            </a:r>
          </a:p>
        </p:txBody>
      </p:sp>
      <p:sp>
        <p:nvSpPr>
          <p:cNvPr id="4" name="Rectangle 3">
            <a:extLst>
              <a:ext uri="{FF2B5EF4-FFF2-40B4-BE49-F238E27FC236}">
                <a16:creationId xmlns:a16="http://schemas.microsoft.com/office/drawing/2014/main" id="{A244E848-C41C-3D34-8392-7BCC97635057}"/>
              </a:ext>
            </a:extLst>
          </p:cNvPr>
          <p:cNvSpPr/>
          <p:nvPr/>
        </p:nvSpPr>
        <p:spPr>
          <a:xfrm>
            <a:off x="9132915" y="5911098"/>
            <a:ext cx="2876205" cy="6282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libri" panose="020F0502020204030204" pitchFamily="34" charset="0"/>
              </a:rPr>
              <a:t>Yash Pandey</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Table of Contents</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dirty="0"/>
              <a:t>Dataset Overview</a:t>
            </a:r>
          </a:p>
          <a:p>
            <a:r>
              <a:rPr lang="en-US" dirty="0"/>
              <a:t>Exploratory Data Analysis</a:t>
            </a:r>
          </a:p>
          <a:p>
            <a:r>
              <a:rPr lang="en-US" dirty="0"/>
              <a:t>Data Preprocessing</a:t>
            </a:r>
          </a:p>
          <a:p>
            <a:r>
              <a:rPr lang="en-US" dirty="0"/>
              <a:t>Model Selection</a:t>
            </a:r>
          </a:p>
          <a:p>
            <a:r>
              <a:rPr lang="en-US" dirty="0"/>
              <a:t>Model Training and Evaluation</a:t>
            </a:r>
          </a:p>
          <a:p>
            <a:r>
              <a:rPr lang="en-US" dirty="0"/>
              <a:t>Results and Interpretation</a:t>
            </a:r>
          </a:p>
          <a:p>
            <a:r>
              <a:rPr lang="en-US" dirty="0"/>
              <a:t>Conclusion</a:t>
            </a:r>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Dataset Overview</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buNone/>
            </a:pPr>
            <a:r>
              <a:rPr lang="en-US" sz="2000" b="1" dirty="0"/>
              <a:t>Introduction:</a:t>
            </a:r>
          </a:p>
          <a:p>
            <a:pPr marL="0" lvl="0" indent="0">
              <a:buNone/>
            </a:pPr>
            <a:r>
              <a:rPr lang="en-US" sz="1800" dirty="0"/>
              <a:t>In this section we will analyze and accurately predict customer responses to insurance policy offers. By utilizing this model, the company aims to improve targeted marketing, optimize their sales channel strategy, and increase the efficiency of their policy sales process using a dataset containing 381109 rows and 12 columns.</a:t>
            </a:r>
          </a:p>
          <a:p>
            <a:pPr marL="0" lvl="0" indent="0">
              <a:buNone/>
            </a:pPr>
            <a:r>
              <a:rPr lang="en-US" sz="2000" b="1" dirty="0"/>
              <a:t>Dataset Description:</a:t>
            </a:r>
            <a:r>
              <a:rPr lang="en-US" sz="2000" dirty="0"/>
              <a:t> </a:t>
            </a:r>
          </a:p>
          <a:p>
            <a:pPr marL="0" lvl="0" indent="0">
              <a:buNone/>
            </a:pPr>
            <a:r>
              <a:rPr lang="en-US" sz="1800" dirty="0"/>
              <a:t>The dataset contains several key features, including id, Gender, Age, Driving License, Region Code, Previously Insured, Vehicle Age, Vehicle Damage, Annual Premium, Policy Sales Channel, Vintage, and Response. The Response variable serves as the target, indicating whether a customer reacts positively to insurance policy offers. Our analysis will involve examining the dataset in detail—identifying the unique values for each feature and reviewing their data types—to gain a deeper understanding of the data and prepare it effectively for developing a machine learning model.</a:t>
            </a:r>
          </a:p>
          <a:p>
            <a:pPr marL="0" lvl="0" indent="0">
              <a:buNone/>
            </a:pPr>
            <a:r>
              <a:rPr lang="en-US" sz="1800" dirty="0"/>
              <a:t>Source of Data is </a:t>
            </a:r>
            <a:r>
              <a:rPr lang="en-US" sz="1800" b="1" dirty="0"/>
              <a:t>BIA Capstone Project. </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IN" dirty="0"/>
              <a:t>Exploratory Data Analysis</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ln>
            <a:solidFill>
              <a:schemeClr val="tx1"/>
            </a:solidFill>
          </a:ln>
        </p:spPr>
        <p:txBody>
          <a:bodyPr/>
          <a:lstStyle/>
          <a:p>
            <a:pPr marL="342900" indent="-342900">
              <a:buFont typeface="+mj-lt"/>
              <a:buAutoNum type="arabicPeriod"/>
            </a:pPr>
            <a:r>
              <a:rPr lang="en-IN" sz="1600" b="1" dirty="0"/>
              <a:t>Analysis of dataset:</a:t>
            </a:r>
            <a:r>
              <a:rPr lang="en-IN" sz="1800" b="1" dirty="0"/>
              <a:t> </a:t>
            </a:r>
            <a:r>
              <a:rPr lang="en-IN" sz="1800" dirty="0"/>
              <a:t>The dataset contains </a:t>
            </a:r>
            <a:r>
              <a:rPr lang="en-US" sz="1800" dirty="0"/>
              <a:t>381109 rows and 12 columns.</a:t>
            </a:r>
            <a:r>
              <a:rPr lang="en-IN" sz="1800" dirty="0"/>
              <a:t> </a:t>
            </a:r>
            <a:endParaRPr lang="en-US" sz="1800" dirty="0"/>
          </a:p>
          <a:p>
            <a:pPr marL="342900" indent="-342900">
              <a:buFont typeface="+mj-lt"/>
              <a:buAutoNum type="arabicPeriod"/>
            </a:pPr>
            <a:r>
              <a:rPr lang="en-US" sz="1800" b="1" dirty="0"/>
              <a:t>Checking shape and missing values of data: </a:t>
            </a:r>
            <a:r>
              <a:rPr lang="en-US" sz="1800" dirty="0"/>
              <a:t>Identifying missing value of data by using data.isnull() and also by plotting heatmap for the same</a:t>
            </a:r>
          </a:p>
          <a:p>
            <a:pPr marL="342900" indent="-342900">
              <a:buFont typeface="+mj-lt"/>
              <a:buAutoNum type="arabicPeriod"/>
            </a:pPr>
            <a:r>
              <a:rPr lang="en-IN" sz="1800" b="1" dirty="0"/>
              <a:t>Visualizing the graph for numerical and categorical variables: </a:t>
            </a:r>
            <a:r>
              <a:rPr lang="en-IN" sz="1800" dirty="0"/>
              <a:t>Plotting graph for numerical variables such as </a:t>
            </a:r>
            <a:r>
              <a:rPr lang="en-IN" sz="1800" dirty="0" err="1"/>
              <a:t>Age,Annual</a:t>
            </a:r>
            <a:r>
              <a:rPr lang="en-IN" sz="1800" dirty="0"/>
              <a:t> Premium and Vintage and categorical variables such as Gender, Driving License, Region Code, Previously Insured, Vehicle Age, Vehicle Damage, Policy Sales Channel  and Response </a:t>
            </a:r>
          </a:p>
          <a:p>
            <a:pPr marL="0" indent="0">
              <a:buNone/>
            </a:pPr>
            <a:endParaRPr lang="en-IN" sz="1800" dirty="0"/>
          </a:p>
        </p:txBody>
      </p:sp>
      <p:pic>
        <p:nvPicPr>
          <p:cNvPr id="3" name="Picture 2" descr="A graph of a distribution of annual premium">
            <a:extLst>
              <a:ext uri="{FF2B5EF4-FFF2-40B4-BE49-F238E27FC236}">
                <a16:creationId xmlns:a16="http://schemas.microsoft.com/office/drawing/2014/main" id="{ED477913-F937-2F72-0C08-AC0611463BD3}"/>
              </a:ext>
            </a:extLst>
          </p:cNvPr>
          <p:cNvPicPr>
            <a:picLocks noChangeAspect="1"/>
          </p:cNvPicPr>
          <p:nvPr/>
        </p:nvPicPr>
        <p:blipFill>
          <a:blip r:embed="rId2"/>
          <a:stretch>
            <a:fillRect/>
          </a:stretch>
        </p:blipFill>
        <p:spPr>
          <a:xfrm>
            <a:off x="6129248" y="-4450"/>
            <a:ext cx="2831869" cy="3328571"/>
          </a:xfrm>
          <a:prstGeom prst="rect">
            <a:avLst/>
          </a:prstGeom>
        </p:spPr>
      </p:pic>
      <p:pic>
        <p:nvPicPr>
          <p:cNvPr id="6" name="Picture 5" descr="A blue graph with white text">
            <a:extLst>
              <a:ext uri="{FF2B5EF4-FFF2-40B4-BE49-F238E27FC236}">
                <a16:creationId xmlns:a16="http://schemas.microsoft.com/office/drawing/2014/main" id="{B3F9FE64-CDCF-CDD7-E4BF-0DD0997D2473}"/>
              </a:ext>
            </a:extLst>
          </p:cNvPr>
          <p:cNvPicPr>
            <a:picLocks noChangeAspect="1"/>
          </p:cNvPicPr>
          <p:nvPr/>
        </p:nvPicPr>
        <p:blipFill>
          <a:blip r:embed="rId3"/>
          <a:stretch>
            <a:fillRect/>
          </a:stretch>
        </p:blipFill>
        <p:spPr>
          <a:xfrm>
            <a:off x="8961117" y="-31194"/>
            <a:ext cx="3204000" cy="3328571"/>
          </a:xfrm>
          <a:prstGeom prst="rect">
            <a:avLst/>
          </a:prstGeom>
          <a:ln>
            <a:solidFill>
              <a:schemeClr val="tx1"/>
            </a:solidFill>
          </a:ln>
        </p:spPr>
      </p:pic>
      <p:pic>
        <p:nvPicPr>
          <p:cNvPr id="7" name="Picture 6" descr="A group of blue and white graphs">
            <a:extLst>
              <a:ext uri="{FF2B5EF4-FFF2-40B4-BE49-F238E27FC236}">
                <a16:creationId xmlns:a16="http://schemas.microsoft.com/office/drawing/2014/main" id="{F410A15B-7485-678D-8510-10E166AEE560}"/>
              </a:ext>
            </a:extLst>
          </p:cNvPr>
          <p:cNvPicPr>
            <a:picLocks noChangeAspect="1"/>
          </p:cNvPicPr>
          <p:nvPr/>
        </p:nvPicPr>
        <p:blipFill>
          <a:blip r:embed="rId4"/>
          <a:stretch>
            <a:fillRect/>
          </a:stretch>
        </p:blipFill>
        <p:spPr>
          <a:xfrm>
            <a:off x="6096000" y="3328571"/>
            <a:ext cx="6096000" cy="2806222"/>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9873D-3DB2-B616-070B-4915CB75BB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8EFE1F-315C-26F2-A1C2-176F9E42A004}"/>
              </a:ext>
            </a:extLst>
          </p:cNvPr>
          <p:cNvSpPr>
            <a:spLocks noGrp="1"/>
          </p:cNvSpPr>
          <p:nvPr>
            <p:ph type="title"/>
          </p:nvPr>
        </p:nvSpPr>
        <p:spPr/>
        <p:txBody>
          <a:bodyPr/>
          <a:lstStyle/>
          <a:p>
            <a:r>
              <a:rPr lang="en-IN" dirty="0"/>
              <a:t>Exploratory Data Analysis</a:t>
            </a:r>
          </a:p>
        </p:txBody>
      </p:sp>
      <p:sp>
        <p:nvSpPr>
          <p:cNvPr id="5" name="Content Placeholder 4">
            <a:extLst>
              <a:ext uri="{FF2B5EF4-FFF2-40B4-BE49-F238E27FC236}">
                <a16:creationId xmlns:a16="http://schemas.microsoft.com/office/drawing/2014/main" id="{D38CDB7F-C400-01C9-D202-B2D829D78290}"/>
              </a:ext>
            </a:extLst>
          </p:cNvPr>
          <p:cNvSpPr>
            <a:spLocks noGrp="1"/>
          </p:cNvSpPr>
          <p:nvPr>
            <p:ph idx="1"/>
          </p:nvPr>
        </p:nvSpPr>
        <p:spPr>
          <a:xfrm>
            <a:off x="343593" y="1280160"/>
            <a:ext cx="5442527" cy="4777742"/>
          </a:xfrm>
          <a:ln>
            <a:solidFill>
              <a:schemeClr val="tx1"/>
            </a:solidFill>
          </a:ln>
        </p:spPr>
        <p:txBody>
          <a:bodyPr/>
          <a:lstStyle/>
          <a:p>
            <a:pPr marL="0" indent="0">
              <a:buNone/>
            </a:pPr>
            <a:r>
              <a:rPr lang="en-IN" sz="1800" dirty="0"/>
              <a:t>4. </a:t>
            </a:r>
            <a:r>
              <a:rPr lang="en-IN" sz="1800" b="1" dirty="0"/>
              <a:t>Correlation Heatmap of Numerical Variables and Categorical Variables: </a:t>
            </a:r>
            <a:r>
              <a:rPr lang="en-US" sz="1800" dirty="0"/>
              <a:t>A correlation heatmap is a visual tool using colors to show the strength and direction of relationships between many variables in a dataset, where cells display correlation coefficients (from -1 to +1); typically, blue indicates strong positive correlation, light blue shows strong negative correlation.</a:t>
            </a:r>
            <a:br>
              <a:rPr lang="en-US" sz="1800" dirty="0"/>
            </a:br>
            <a:br>
              <a:rPr lang="en-US" sz="1800" dirty="0"/>
            </a:br>
            <a:br>
              <a:rPr lang="en-US" sz="1800" dirty="0"/>
            </a:br>
            <a:br>
              <a:rPr lang="en-US" sz="1800" dirty="0"/>
            </a:br>
            <a:br>
              <a:rPr lang="en-US" sz="1800" dirty="0"/>
            </a:br>
            <a:br>
              <a:rPr lang="en-US" sz="1800" dirty="0"/>
            </a:br>
            <a:endParaRPr lang="en-US" sz="1800" dirty="0"/>
          </a:p>
          <a:p>
            <a:pPr marL="0" indent="0">
              <a:buNone/>
            </a:pPr>
            <a:endParaRPr lang="en-US" sz="1800" dirty="0"/>
          </a:p>
          <a:p>
            <a:pPr marL="0" indent="0">
              <a:buNone/>
            </a:pPr>
            <a:endParaRPr lang="en-IN" sz="1800" dirty="0"/>
          </a:p>
        </p:txBody>
      </p:sp>
      <p:pic>
        <p:nvPicPr>
          <p:cNvPr id="9" name="Picture 8" descr="A screenshot of a heatmap">
            <a:extLst>
              <a:ext uri="{FF2B5EF4-FFF2-40B4-BE49-F238E27FC236}">
                <a16:creationId xmlns:a16="http://schemas.microsoft.com/office/drawing/2014/main" id="{4E06E808-9DD9-9781-913C-975F7AB520CF}"/>
              </a:ext>
            </a:extLst>
          </p:cNvPr>
          <p:cNvPicPr>
            <a:picLocks noChangeAspect="1"/>
          </p:cNvPicPr>
          <p:nvPr/>
        </p:nvPicPr>
        <p:blipFill>
          <a:blip r:embed="rId2"/>
          <a:stretch>
            <a:fillRect/>
          </a:stretch>
        </p:blipFill>
        <p:spPr>
          <a:xfrm>
            <a:off x="404059" y="3105428"/>
            <a:ext cx="5665364" cy="3572463"/>
          </a:xfrm>
          <a:prstGeom prst="rect">
            <a:avLst/>
          </a:prstGeom>
          <a:ln>
            <a:solidFill>
              <a:schemeClr val="tx1"/>
            </a:solidFill>
          </a:ln>
        </p:spPr>
      </p:pic>
      <p:pic>
        <p:nvPicPr>
          <p:cNvPr id="11" name="Picture 10" descr="A blue squares with white text&#10;&#10;AI-generated content may be incorrect.">
            <a:extLst>
              <a:ext uri="{FF2B5EF4-FFF2-40B4-BE49-F238E27FC236}">
                <a16:creationId xmlns:a16="http://schemas.microsoft.com/office/drawing/2014/main" id="{EA728B83-C817-1CD3-F2F9-69A1996E2815}"/>
              </a:ext>
            </a:extLst>
          </p:cNvPr>
          <p:cNvPicPr>
            <a:picLocks noChangeAspect="1"/>
          </p:cNvPicPr>
          <p:nvPr/>
        </p:nvPicPr>
        <p:blipFill>
          <a:blip r:embed="rId3"/>
          <a:stretch>
            <a:fillRect/>
          </a:stretch>
        </p:blipFill>
        <p:spPr>
          <a:xfrm>
            <a:off x="6054396" y="-1"/>
            <a:ext cx="6198564" cy="6112625"/>
          </a:xfrm>
          <a:prstGeom prst="rect">
            <a:avLst/>
          </a:prstGeom>
          <a:ln>
            <a:solidFill>
              <a:schemeClr val="tx1"/>
            </a:solidFill>
          </a:ln>
        </p:spPr>
      </p:pic>
    </p:spTree>
    <p:extLst>
      <p:ext uri="{BB962C8B-B14F-4D97-AF65-F5344CB8AC3E}">
        <p14:creationId xmlns:p14="http://schemas.microsoft.com/office/powerpoint/2010/main" val="1195615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CBFEC-090F-4A56-E9AA-22B3730B2F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4D1B2B-FDCC-6B8E-C67B-11A916966510}"/>
              </a:ext>
            </a:extLst>
          </p:cNvPr>
          <p:cNvSpPr>
            <a:spLocks noGrp="1"/>
          </p:cNvSpPr>
          <p:nvPr>
            <p:ph type="title"/>
          </p:nvPr>
        </p:nvSpPr>
        <p:spPr/>
        <p:txBody>
          <a:bodyPr/>
          <a:lstStyle/>
          <a:p>
            <a:r>
              <a:rPr lang="en-IN" dirty="0"/>
              <a:t>Data Preprocessing</a:t>
            </a:r>
          </a:p>
        </p:txBody>
      </p:sp>
      <p:sp>
        <p:nvSpPr>
          <p:cNvPr id="5" name="Content Placeholder 4">
            <a:extLst>
              <a:ext uri="{FF2B5EF4-FFF2-40B4-BE49-F238E27FC236}">
                <a16:creationId xmlns:a16="http://schemas.microsoft.com/office/drawing/2014/main" id="{3BA9EC14-C784-EC59-5D63-1C36D0BBF353}"/>
              </a:ext>
            </a:extLst>
          </p:cNvPr>
          <p:cNvSpPr>
            <a:spLocks noGrp="1"/>
          </p:cNvSpPr>
          <p:nvPr>
            <p:ph idx="1"/>
          </p:nvPr>
        </p:nvSpPr>
        <p:spPr>
          <a:ln>
            <a:solidFill>
              <a:schemeClr val="tx1"/>
            </a:solidFill>
          </a:ln>
        </p:spPr>
        <p:txBody>
          <a:bodyPr>
            <a:normAutofit lnSpcReduction="10000"/>
          </a:bodyPr>
          <a:lstStyle/>
          <a:p>
            <a:pPr marL="342900" indent="-342900">
              <a:buFont typeface="+mj-lt"/>
              <a:buAutoNum type="arabicPeriod"/>
            </a:pPr>
            <a:r>
              <a:rPr lang="en-IN" sz="1600" b="1" dirty="0"/>
              <a:t>Label Encoding: </a:t>
            </a:r>
            <a:r>
              <a:rPr lang="en-US" sz="1600" dirty="0"/>
              <a:t>Label encoding is a data preprocessing technique in machine learning that converts categorical text data into numerical labels. In Vehicle Age we have implemented label encoding for &gt; 2years, 1-2 years, &lt;1 years is converted into numerical value which is 2,1,0</a:t>
            </a:r>
          </a:p>
          <a:p>
            <a:pPr marL="342900" indent="-342900">
              <a:buFont typeface="+mj-lt"/>
              <a:buAutoNum type="arabicPeriod"/>
            </a:pPr>
            <a:endParaRPr lang="en-US" sz="1800" dirty="0"/>
          </a:p>
          <a:p>
            <a:pPr marL="342900" indent="-342900">
              <a:buFont typeface="+mj-lt"/>
              <a:buAutoNum type="arabicPeriod"/>
            </a:pPr>
            <a:r>
              <a:rPr lang="en-US" sz="1800" b="1" dirty="0"/>
              <a:t>Checking shape and missing values of data: </a:t>
            </a:r>
            <a:r>
              <a:rPr lang="en-US" sz="1800" dirty="0"/>
              <a:t>Identifying missing value of data by using data.isnull() and also by plotting heatmap for the same</a:t>
            </a:r>
          </a:p>
          <a:p>
            <a:pPr marL="342900" indent="-342900">
              <a:buFont typeface="+mj-lt"/>
              <a:buAutoNum type="arabicPeriod"/>
            </a:pPr>
            <a:r>
              <a:rPr lang="en-IN" sz="1800" b="1" dirty="0"/>
              <a:t>Visualizing the graph for numerical and categorical variables: </a:t>
            </a:r>
            <a:r>
              <a:rPr lang="en-IN" sz="1800" dirty="0"/>
              <a:t>Plotting graph for numerical variables such as </a:t>
            </a:r>
            <a:r>
              <a:rPr lang="en-IN" sz="1800" dirty="0" err="1"/>
              <a:t>Age,Annual</a:t>
            </a:r>
            <a:r>
              <a:rPr lang="en-IN" sz="1800" dirty="0"/>
              <a:t> Premium and Vintage and categorical variables such as Gender, Driving License, Region Code, Previously Insured, Vehicle Age, Vehicle Damage, Policy Sales Channel  and Response </a:t>
            </a:r>
          </a:p>
          <a:p>
            <a:pPr marL="0" indent="0">
              <a:buNone/>
            </a:pPr>
            <a:endParaRPr lang="en-IN" sz="1800" dirty="0"/>
          </a:p>
        </p:txBody>
      </p:sp>
      <p:pic>
        <p:nvPicPr>
          <p:cNvPr id="8" name="Picture 7" descr="A screen shot of a computer">
            <a:extLst>
              <a:ext uri="{FF2B5EF4-FFF2-40B4-BE49-F238E27FC236}">
                <a16:creationId xmlns:a16="http://schemas.microsoft.com/office/drawing/2014/main" id="{DB525A7A-389A-1973-8767-18EABA8C75A0}"/>
              </a:ext>
            </a:extLst>
          </p:cNvPr>
          <p:cNvPicPr>
            <a:picLocks noChangeAspect="1"/>
          </p:cNvPicPr>
          <p:nvPr/>
        </p:nvPicPr>
        <p:blipFill>
          <a:blip r:embed="rId2"/>
          <a:stretch>
            <a:fillRect/>
          </a:stretch>
        </p:blipFill>
        <p:spPr>
          <a:xfrm>
            <a:off x="6173585" y="763999"/>
            <a:ext cx="5902037" cy="1940408"/>
          </a:xfrm>
          <a:prstGeom prst="rect">
            <a:avLst/>
          </a:prstGeom>
        </p:spPr>
      </p:pic>
    </p:spTree>
    <p:extLst>
      <p:ext uri="{BB962C8B-B14F-4D97-AF65-F5344CB8AC3E}">
        <p14:creationId xmlns:p14="http://schemas.microsoft.com/office/powerpoint/2010/main" val="1383699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499C-727A-3081-56D7-793A9C8B92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5C4D37-78F3-3BCC-E254-9F76251491D2}"/>
              </a:ext>
            </a:extLst>
          </p:cNvPr>
          <p:cNvSpPr>
            <a:spLocks noGrp="1"/>
          </p:cNvSpPr>
          <p:nvPr>
            <p:ph type="title"/>
          </p:nvPr>
        </p:nvSpPr>
        <p:spPr/>
        <p:txBody>
          <a:bodyPr/>
          <a:lstStyle/>
          <a:p>
            <a:r>
              <a:rPr lang="en-IN" dirty="0"/>
              <a:t>Exploratory Data Analysis</a:t>
            </a:r>
          </a:p>
        </p:txBody>
      </p:sp>
      <p:sp>
        <p:nvSpPr>
          <p:cNvPr id="5" name="Content Placeholder 4">
            <a:extLst>
              <a:ext uri="{FF2B5EF4-FFF2-40B4-BE49-F238E27FC236}">
                <a16:creationId xmlns:a16="http://schemas.microsoft.com/office/drawing/2014/main" id="{66AAAA23-3C5C-2561-376D-5B683F65581A}"/>
              </a:ext>
            </a:extLst>
          </p:cNvPr>
          <p:cNvSpPr>
            <a:spLocks noGrp="1"/>
          </p:cNvSpPr>
          <p:nvPr>
            <p:ph idx="1"/>
          </p:nvPr>
        </p:nvSpPr>
        <p:spPr>
          <a:xfrm>
            <a:off x="343593" y="1280160"/>
            <a:ext cx="5442527" cy="4777742"/>
          </a:xfrm>
          <a:ln>
            <a:solidFill>
              <a:schemeClr val="tx1"/>
            </a:solidFill>
          </a:ln>
        </p:spPr>
        <p:txBody>
          <a:bodyPr/>
          <a:lstStyle/>
          <a:p>
            <a:pPr marL="0" indent="0">
              <a:buNone/>
            </a:pPr>
            <a:r>
              <a:rPr lang="en-IN" sz="1800" dirty="0"/>
              <a:t>4. </a:t>
            </a:r>
            <a:r>
              <a:rPr lang="en-IN" sz="1800" b="1" dirty="0"/>
              <a:t>Correlation Heatmap of Numerical Variables and Categorical Variables: </a:t>
            </a:r>
            <a:r>
              <a:rPr lang="en-US" sz="1800" dirty="0"/>
              <a:t>A correlation heatmap is a visual tool using colors to show the strength and direction of relationships between many variables in a dataset, where cells display correlation coefficients (from -1 to +1); typically, blue indicates strong positive correlation, light blue shows strong negative correlation.</a:t>
            </a:r>
            <a:br>
              <a:rPr lang="en-US" sz="1800" dirty="0"/>
            </a:br>
            <a:br>
              <a:rPr lang="en-US" sz="1800" dirty="0"/>
            </a:br>
            <a:br>
              <a:rPr lang="en-US" sz="1800" dirty="0"/>
            </a:br>
            <a:br>
              <a:rPr lang="en-US" sz="1800" dirty="0"/>
            </a:br>
            <a:br>
              <a:rPr lang="en-US" sz="1800" dirty="0"/>
            </a:br>
            <a:br>
              <a:rPr lang="en-US" sz="1800" dirty="0"/>
            </a:br>
            <a:endParaRPr lang="en-US" sz="1800" dirty="0"/>
          </a:p>
          <a:p>
            <a:pPr marL="0" indent="0">
              <a:buNone/>
            </a:pPr>
            <a:endParaRPr lang="en-US" sz="1800" dirty="0"/>
          </a:p>
          <a:p>
            <a:pPr marL="0" indent="0">
              <a:buNone/>
            </a:pPr>
            <a:endParaRPr lang="en-IN" sz="1800" dirty="0"/>
          </a:p>
        </p:txBody>
      </p:sp>
      <p:pic>
        <p:nvPicPr>
          <p:cNvPr id="9" name="Picture 8" descr="A screenshot of a heatmap">
            <a:extLst>
              <a:ext uri="{FF2B5EF4-FFF2-40B4-BE49-F238E27FC236}">
                <a16:creationId xmlns:a16="http://schemas.microsoft.com/office/drawing/2014/main" id="{56CD4C10-E854-5235-7EF4-AE6FE3D05C68}"/>
              </a:ext>
            </a:extLst>
          </p:cNvPr>
          <p:cNvPicPr>
            <a:picLocks noChangeAspect="1"/>
          </p:cNvPicPr>
          <p:nvPr/>
        </p:nvPicPr>
        <p:blipFill>
          <a:blip r:embed="rId2"/>
          <a:stretch>
            <a:fillRect/>
          </a:stretch>
        </p:blipFill>
        <p:spPr>
          <a:xfrm>
            <a:off x="404059" y="3105428"/>
            <a:ext cx="5665364" cy="3572463"/>
          </a:xfrm>
          <a:prstGeom prst="rect">
            <a:avLst/>
          </a:prstGeom>
          <a:ln>
            <a:solidFill>
              <a:schemeClr val="tx1"/>
            </a:solidFill>
          </a:ln>
        </p:spPr>
      </p:pic>
      <p:pic>
        <p:nvPicPr>
          <p:cNvPr id="11" name="Picture 10" descr="A blue squares with white text&#10;&#10;AI-generated content may be incorrect.">
            <a:extLst>
              <a:ext uri="{FF2B5EF4-FFF2-40B4-BE49-F238E27FC236}">
                <a16:creationId xmlns:a16="http://schemas.microsoft.com/office/drawing/2014/main" id="{914AD571-B09A-CE81-F9FC-51DA90FC7E30}"/>
              </a:ext>
            </a:extLst>
          </p:cNvPr>
          <p:cNvPicPr>
            <a:picLocks noChangeAspect="1"/>
          </p:cNvPicPr>
          <p:nvPr/>
        </p:nvPicPr>
        <p:blipFill>
          <a:blip r:embed="rId3"/>
          <a:stretch>
            <a:fillRect/>
          </a:stretch>
        </p:blipFill>
        <p:spPr>
          <a:xfrm>
            <a:off x="6054396" y="-1"/>
            <a:ext cx="6198564" cy="6112625"/>
          </a:xfrm>
          <a:prstGeom prst="rect">
            <a:avLst/>
          </a:prstGeom>
          <a:ln>
            <a:solidFill>
              <a:schemeClr val="tx1"/>
            </a:solidFill>
          </a:ln>
        </p:spPr>
      </p:pic>
    </p:spTree>
    <p:extLst>
      <p:ext uri="{BB962C8B-B14F-4D97-AF65-F5344CB8AC3E}">
        <p14:creationId xmlns:p14="http://schemas.microsoft.com/office/powerpoint/2010/main" val="1479973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94365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Title</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pPr marL="0" indent="0">
              <a:buNone/>
            </a:pPr>
            <a:r>
              <a:rPr lang="en-US" sz="2200" b="1" dirty="0">
                <a:solidFill>
                  <a:schemeClr val="tx1"/>
                </a:solidFill>
              </a:rPr>
              <a:t>C</a:t>
            </a:r>
            <a:r>
              <a:rPr lang="en-IN" sz="2200" b="1" dirty="0" err="1">
                <a:solidFill>
                  <a:schemeClr val="tx1"/>
                </a:solidFill>
              </a:rPr>
              <a:t>ontent</a:t>
            </a:r>
            <a:endParaRPr lang="en-IN" sz="2200" dirty="0"/>
          </a:p>
        </p:txBody>
      </p:sp>
    </p:spTree>
    <p:extLst>
      <p:ext uri="{BB962C8B-B14F-4D97-AF65-F5344CB8AC3E}">
        <p14:creationId xmlns:p14="http://schemas.microsoft.com/office/powerpoint/2010/main" val="2845992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9970</TotalTime>
  <Words>569</Words>
  <Application>Microsoft Office PowerPoint</Application>
  <PresentationFormat>Widescreen</PresentationFormat>
  <Paragraphs>34</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BIA Template</vt:lpstr>
      <vt:lpstr>PowerPoint Presentation</vt:lpstr>
      <vt:lpstr>Table of Contents</vt:lpstr>
      <vt:lpstr>Dataset Overview</vt:lpstr>
      <vt:lpstr>Exploratory Data Analysis</vt:lpstr>
      <vt:lpstr>Exploratory Data Analysis</vt:lpstr>
      <vt:lpstr>Data Preprocessing</vt:lpstr>
      <vt:lpstr>Exploratory Data Analysis</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Yash Dinesh Pandey</cp:lastModifiedBy>
  <cp:revision>2264</cp:revision>
  <dcterms:created xsi:type="dcterms:W3CDTF">2020-12-23T13:36:00Z</dcterms:created>
  <dcterms:modified xsi:type="dcterms:W3CDTF">2025-12-28T17:32:05Z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